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C93755-9601-451A-A3E9-87CA1E41A8B0}">
  <a:tblStyle styleId="{0FC93755-9601-451A-A3E9-87CA1E41A8B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7f423c6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7f423c6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4a3a3f82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4a3a3f82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7f423c6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7f423c6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7f423c63f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7f423c63f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7f423c63f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7f423c63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7f423c63f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7f423c63f_4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7f423c63f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7f423c63f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4a3a3f82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4a3a3f82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4a3a3f8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4a3a3f8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7f423c63f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7f423c63f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7f423c63f_4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7f423c63f_4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7f423c63f_4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7f423c63f_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7f423c63f_4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7f423c63f_4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4a3a3f82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4a3a3f82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7f423c63f_4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7f423c63f_4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7f423c63f_4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7f423c63f_4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7f423c63f_4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7f423c63f_4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7f423c63f_4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7f423c63f_4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columbia.edu/~mh2078/MonteCarlo/MCS_Greeks.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000">
                <a:latin typeface="Times New Roman"/>
                <a:ea typeface="Times New Roman"/>
                <a:cs typeface="Times New Roman"/>
                <a:sym typeface="Times New Roman"/>
              </a:rPr>
              <a:t>Investigation of Asian Options</a:t>
            </a:r>
            <a:endParaRPr sz="5000">
              <a:latin typeface="Times New Roman"/>
              <a:ea typeface="Times New Roman"/>
              <a:cs typeface="Times New Roman"/>
              <a:sym typeface="Times New Roman"/>
            </a:endParaRPr>
          </a:p>
        </p:txBody>
      </p:sp>
      <p:sp>
        <p:nvSpPr>
          <p:cNvPr id="55" name="Google Shape;55;p13"/>
          <p:cNvSpPr txBox="1"/>
          <p:nvPr>
            <p:ph idx="1" type="subTitle"/>
          </p:nvPr>
        </p:nvSpPr>
        <p:spPr>
          <a:xfrm>
            <a:off x="258025" y="28448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Benjamin Alioni, Cory Peters, Sidney Washburn</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What are Asian Options?</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416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Asian Options are a type of exotic option whose payoff is determined  by the average price of the underlying stock. </a:t>
            </a:r>
            <a:endParaRPr>
              <a:latin typeface="Times New Roman"/>
              <a:ea typeface="Times New Roman"/>
              <a:cs typeface="Times New Roman"/>
              <a:sym typeface="Times New Roman"/>
            </a:endParaRPr>
          </a:p>
          <a:p>
            <a:pPr indent="0" lvl="0" marL="0" rtl="0" algn="ctr">
              <a:spcBef>
                <a:spcPts val="1200"/>
              </a:spcBef>
              <a:spcAft>
                <a:spcPts val="0"/>
              </a:spcAft>
              <a:buNone/>
            </a:pPr>
            <a:r>
              <a:t/>
            </a:r>
            <a:endParaRPr>
              <a:latin typeface="Times New Roman"/>
              <a:ea typeface="Times New Roman"/>
              <a:cs typeface="Times New Roman"/>
              <a:sym typeface="Times New Roman"/>
            </a:endParaRPr>
          </a:p>
          <a:p>
            <a:pPr indent="0" lvl="0" marL="0" rtl="0" algn="ctr">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ctr">
              <a:spcBef>
                <a:spcPts val="1200"/>
              </a:spcBef>
              <a:spcAft>
                <a:spcPts val="0"/>
              </a:spcAft>
              <a:buNone/>
            </a:pPr>
            <a:r>
              <a:rPr lang="en">
                <a:latin typeface="Times New Roman"/>
                <a:ea typeface="Times New Roman"/>
                <a:cs typeface="Times New Roman"/>
                <a:sym typeface="Times New Roman"/>
              </a:rPr>
              <a:t>A = Average stock price from initiation to expiration. </a:t>
            </a:r>
            <a:endParaRPr>
              <a:latin typeface="Times New Roman"/>
              <a:ea typeface="Times New Roman"/>
              <a:cs typeface="Times New Roman"/>
              <a:sym typeface="Times New Roman"/>
            </a:endParaRPr>
          </a:p>
          <a:p>
            <a:pPr indent="0" lvl="0" marL="0" rtl="0" algn="ctr">
              <a:spcBef>
                <a:spcPts val="1200"/>
              </a:spcBef>
              <a:spcAft>
                <a:spcPts val="1200"/>
              </a:spcAft>
              <a:buNone/>
            </a:pPr>
            <a:r>
              <a:rPr lang="en">
                <a:latin typeface="Times New Roman"/>
                <a:ea typeface="Times New Roman"/>
                <a:cs typeface="Times New Roman"/>
                <a:sym typeface="Times New Roman"/>
              </a:rPr>
              <a:t>K = Strike Price. </a:t>
            </a:r>
            <a:endParaRPr>
              <a:latin typeface="Times New Roman"/>
              <a:ea typeface="Times New Roman"/>
              <a:cs typeface="Times New Roman"/>
              <a:sym typeface="Times New Roman"/>
            </a:endParaRPr>
          </a:p>
        </p:txBody>
      </p:sp>
      <p:sp>
        <p:nvSpPr>
          <p:cNvPr id="62" name="Google Shape;62;p14"/>
          <p:cNvSpPr/>
          <p:nvPr/>
        </p:nvSpPr>
        <p:spPr>
          <a:xfrm>
            <a:off x="2665950" y="2235875"/>
            <a:ext cx="3812100" cy="12564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ctr">
              <a:lnSpc>
                <a:spcPct val="115000"/>
              </a:lnSpc>
              <a:spcBef>
                <a:spcPts val="1200"/>
              </a:spcBef>
              <a:spcAft>
                <a:spcPts val="0"/>
              </a:spcAft>
              <a:buClr>
                <a:schemeClr val="dk1"/>
              </a:buClr>
              <a:buSzPts val="1100"/>
              <a:buFont typeface="Arial"/>
              <a:buNone/>
            </a:pPr>
            <a:r>
              <a:rPr lang="en" sz="1800">
                <a:solidFill>
                  <a:schemeClr val="dk2"/>
                </a:solidFill>
                <a:latin typeface="Times New Roman"/>
                <a:ea typeface="Times New Roman"/>
                <a:cs typeface="Times New Roman"/>
                <a:sym typeface="Times New Roman"/>
              </a:rPr>
              <a:t>Asian Call: Payoff = max(A - K, 0)</a:t>
            </a:r>
            <a:endParaRPr sz="1800">
              <a:solidFill>
                <a:schemeClr val="dk2"/>
              </a:solidFill>
              <a:latin typeface="Times New Roman"/>
              <a:ea typeface="Times New Roman"/>
              <a:cs typeface="Times New Roman"/>
              <a:sym typeface="Times New Roman"/>
            </a:endParaRPr>
          </a:p>
          <a:p>
            <a:pPr indent="0" lvl="0" marL="0" rtl="0" algn="ctr">
              <a:lnSpc>
                <a:spcPct val="115000"/>
              </a:lnSpc>
              <a:spcBef>
                <a:spcPts val="1200"/>
              </a:spcBef>
              <a:spcAft>
                <a:spcPts val="0"/>
              </a:spcAft>
              <a:buClr>
                <a:schemeClr val="dk1"/>
              </a:buClr>
              <a:buSzPts val="1100"/>
              <a:buFont typeface="Arial"/>
              <a:buNone/>
            </a:pPr>
            <a:r>
              <a:rPr lang="en" sz="1800">
                <a:solidFill>
                  <a:schemeClr val="dk2"/>
                </a:solidFill>
                <a:latin typeface="Times New Roman"/>
                <a:ea typeface="Times New Roman"/>
                <a:cs typeface="Times New Roman"/>
                <a:sym typeface="Times New Roman"/>
              </a:rPr>
              <a:t>Asian Put: Payoff = max(K - A, 0)</a:t>
            </a:r>
            <a:endParaRPr sz="1800">
              <a:solidFill>
                <a:schemeClr val="dk2"/>
              </a:solidFill>
              <a:latin typeface="Times New Roman"/>
              <a:ea typeface="Times New Roman"/>
              <a:cs typeface="Times New Roman"/>
              <a:sym typeface="Times New Roman"/>
            </a:endParaRPr>
          </a:p>
          <a:p>
            <a:pPr indent="0" lvl="0" marL="0" rtl="0" algn="ctr">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Why use Asian Options?</a:t>
            </a:r>
            <a:endParaRPr>
              <a:latin typeface="Times New Roman"/>
              <a:ea typeface="Times New Roman"/>
              <a:cs typeface="Times New Roman"/>
              <a:sym typeface="Times New Roman"/>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The averaging reduces the effect of volatility. This can be beneficial for assets which can experience volatility spikes, such as crude oil or other commodities.</a:t>
            </a:r>
            <a:endParaRPr>
              <a:latin typeface="Times New Roman"/>
              <a:ea typeface="Times New Roman"/>
              <a:cs typeface="Times New Roman"/>
              <a:sym typeface="Times New Roman"/>
            </a:endParaRPr>
          </a:p>
        </p:txBody>
      </p:sp>
      <p:pic>
        <p:nvPicPr>
          <p:cNvPr id="69" name="Google Shape;69;p15"/>
          <p:cNvPicPr preferRelativeResize="0"/>
          <p:nvPr/>
        </p:nvPicPr>
        <p:blipFill>
          <a:blip r:embed="rId3">
            <a:alphaModFix/>
          </a:blip>
          <a:stretch>
            <a:fillRect/>
          </a:stretch>
        </p:blipFill>
        <p:spPr>
          <a:xfrm>
            <a:off x="484350" y="2333025"/>
            <a:ext cx="3826873" cy="2618676"/>
          </a:xfrm>
          <a:prstGeom prst="rect">
            <a:avLst/>
          </a:prstGeom>
          <a:noFill/>
          <a:ln>
            <a:noFill/>
          </a:ln>
        </p:spPr>
      </p:pic>
      <p:pic>
        <p:nvPicPr>
          <p:cNvPr id="70" name="Google Shape;70;p15"/>
          <p:cNvPicPr preferRelativeResize="0"/>
          <p:nvPr/>
        </p:nvPicPr>
        <p:blipFill>
          <a:blip r:embed="rId4">
            <a:alphaModFix/>
          </a:blip>
          <a:stretch>
            <a:fillRect/>
          </a:stretch>
        </p:blipFill>
        <p:spPr>
          <a:xfrm>
            <a:off x="4815000" y="2333025"/>
            <a:ext cx="3661225" cy="2618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Example: The Payoff Asian Call </a:t>
            </a:r>
            <a:endParaRPr>
              <a:latin typeface="Times New Roman"/>
              <a:ea typeface="Times New Roman"/>
              <a:cs typeface="Times New Roman"/>
              <a:sym typeface="Times New Roman"/>
            </a:endParaRPr>
          </a:p>
        </p:txBody>
      </p:sp>
      <p:sp>
        <p:nvSpPr>
          <p:cNvPr id="76" name="Google Shape;76;p16"/>
          <p:cNvSpPr txBox="1"/>
          <p:nvPr>
            <p:ph idx="1" type="body"/>
          </p:nvPr>
        </p:nvSpPr>
        <p:spPr>
          <a:xfrm>
            <a:off x="4393075" y="1152475"/>
            <a:ext cx="4439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An Asian Call on this stock would pay out about $60.</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1200"/>
              </a:spcAft>
              <a:buNone/>
            </a:pPr>
            <a:r>
              <a:rPr lang="en">
                <a:latin typeface="Times New Roman"/>
                <a:ea typeface="Times New Roman"/>
                <a:cs typeface="Times New Roman"/>
                <a:sym typeface="Times New Roman"/>
              </a:rPr>
              <a:t>A European call would pay out roughly $125.</a:t>
            </a:r>
            <a:endParaRPr>
              <a:latin typeface="Times New Roman"/>
              <a:ea typeface="Times New Roman"/>
              <a:cs typeface="Times New Roman"/>
              <a:sym typeface="Times New Roman"/>
            </a:endParaRPr>
          </a:p>
        </p:txBody>
      </p:sp>
      <p:pic>
        <p:nvPicPr>
          <p:cNvPr id="77" name="Google Shape;77;p16" title="Stock_path_with_running_average.png"/>
          <p:cNvPicPr preferRelativeResize="0"/>
          <p:nvPr/>
        </p:nvPicPr>
        <p:blipFill>
          <a:blip r:embed="rId3">
            <a:alphaModFix/>
          </a:blip>
          <a:stretch>
            <a:fillRect/>
          </a:stretch>
        </p:blipFill>
        <p:spPr>
          <a:xfrm>
            <a:off x="311700" y="1152475"/>
            <a:ext cx="3943800" cy="29728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Pricing Asian Calls</a:t>
            </a:r>
            <a:endParaRPr>
              <a:latin typeface="Times New Roman"/>
              <a:ea typeface="Times New Roman"/>
              <a:cs typeface="Times New Roman"/>
              <a:sym typeface="Times New Roman"/>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In the pricing European options, the framework of Black–Scholes provides an explicit, closed-form formula. There is also the computationally efficient binomial tree model for pricing American options.</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1200"/>
              </a:spcAft>
              <a:buNone/>
            </a:pPr>
            <a:r>
              <a:rPr lang="en">
                <a:latin typeface="Times New Roman"/>
                <a:ea typeface="Times New Roman"/>
                <a:cs typeface="Times New Roman"/>
                <a:sym typeface="Times New Roman"/>
              </a:rPr>
              <a:t>The situation for Asian options is more delicate. There is no such explicit formula, but one can still estimate the value. The binomial tree model no longer works because of the path-dependence of Asian options. Two possible methods are Monte Carlo approximation and estimation via a PDE.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a:solidFill>
            <a:schemeClr val="lt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Pricing via </a:t>
            </a:r>
            <a:r>
              <a:rPr lang="en">
                <a:latin typeface="Times New Roman"/>
                <a:ea typeface="Times New Roman"/>
                <a:cs typeface="Times New Roman"/>
                <a:sym typeface="Times New Roman"/>
              </a:rPr>
              <a:t>Monte Carlo</a:t>
            </a:r>
            <a:endParaRPr>
              <a:latin typeface="Times New Roman"/>
              <a:ea typeface="Times New Roman"/>
              <a:cs typeface="Times New Roman"/>
              <a:sym typeface="Times New Roman"/>
            </a:endParaRPr>
          </a:p>
        </p:txBody>
      </p:sp>
      <p:sp>
        <p:nvSpPr>
          <p:cNvPr id="89" name="Google Shape;89;p18"/>
          <p:cNvSpPr txBox="1"/>
          <p:nvPr>
            <p:ph idx="1" type="body"/>
          </p:nvPr>
        </p:nvSpPr>
        <p:spPr>
          <a:xfrm>
            <a:off x="311700" y="1152475"/>
            <a:ext cx="8520600" cy="3416400"/>
          </a:xfrm>
          <a:prstGeom prst="rect">
            <a:avLst/>
          </a:prstGeom>
          <a:solidFill>
            <a:schemeClr val="lt1"/>
          </a:solidFill>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The simplest surefire way to estimate the value of an Asian option</a:t>
            </a:r>
            <a:r>
              <a:rPr lang="en">
                <a:latin typeface="Times New Roman"/>
                <a:ea typeface="Times New Roman"/>
                <a:cs typeface="Times New Roman"/>
                <a:sym typeface="Times New Roman"/>
              </a:rPr>
              <a:t> is to simulate many stock paths, calculate the payout of the option corresponding to each path, then compute the average payout among all the simulated paths.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pic>
        <p:nvPicPr>
          <p:cNvPr id="90" name="Google Shape;90;p18" title="Sample_paths.png"/>
          <p:cNvPicPr preferRelativeResize="0"/>
          <p:nvPr/>
        </p:nvPicPr>
        <p:blipFill>
          <a:blip r:embed="rId3">
            <a:alphaModFix/>
          </a:blip>
          <a:stretch>
            <a:fillRect/>
          </a:stretch>
        </p:blipFill>
        <p:spPr>
          <a:xfrm>
            <a:off x="154125" y="2253795"/>
            <a:ext cx="3696574" cy="2744600"/>
          </a:xfrm>
          <a:prstGeom prst="rect">
            <a:avLst/>
          </a:prstGeom>
          <a:noFill/>
          <a:ln>
            <a:noFill/>
          </a:ln>
        </p:spPr>
      </p:pic>
      <p:cxnSp>
        <p:nvCxnSpPr>
          <p:cNvPr id="91" name="Google Shape;91;p18"/>
          <p:cNvCxnSpPr/>
          <p:nvPr/>
        </p:nvCxnSpPr>
        <p:spPr>
          <a:xfrm>
            <a:off x="4131600" y="3567375"/>
            <a:ext cx="440400" cy="10800"/>
          </a:xfrm>
          <a:prstGeom prst="straightConnector1">
            <a:avLst/>
          </a:prstGeom>
          <a:noFill/>
          <a:ln cap="flat" cmpd="sng" w="38100">
            <a:solidFill>
              <a:schemeClr val="dk2"/>
            </a:solidFill>
            <a:prstDash val="solid"/>
            <a:round/>
            <a:headEnd len="med" w="med" type="none"/>
            <a:tailEnd len="med" w="med" type="triangle"/>
          </a:ln>
        </p:spPr>
      </p:cxnSp>
      <p:sp>
        <p:nvSpPr>
          <p:cNvPr id="92" name="Google Shape;92;p18"/>
          <p:cNvSpPr/>
          <p:nvPr/>
        </p:nvSpPr>
        <p:spPr>
          <a:xfrm>
            <a:off x="4747375" y="2343275"/>
            <a:ext cx="3887100" cy="248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Times New Roman"/>
                <a:ea typeface="Times New Roman"/>
                <a:cs typeface="Times New Roman"/>
                <a:sym typeface="Times New Roman"/>
              </a:rPr>
              <a:t>Average Payout =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2"/>
                </a:solidFill>
                <a:latin typeface="Times New Roman"/>
                <a:ea typeface="Times New Roman"/>
                <a:cs typeface="Times New Roman"/>
                <a:sym typeface="Times New Roman"/>
              </a:rPr>
              <a:t>Payouts / Number of Simulations</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2"/>
                </a:solidFill>
                <a:latin typeface="Times New Roman"/>
                <a:ea typeface="Times New Roman"/>
                <a:cs typeface="Times New Roman"/>
                <a:sym typeface="Times New Roman"/>
              </a:rPr>
              <a:t>= $96.88</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Pricing via Monte Carlo (cont.)</a:t>
            </a:r>
            <a:endParaRPr>
              <a:latin typeface="Times New Roman"/>
              <a:ea typeface="Times New Roman"/>
              <a:cs typeface="Times New Roman"/>
              <a:sym typeface="Times New Roman"/>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Unlike European options, the payout of an Asian option depends upon the entire stock path. This makes simulation and calculation of a payout </a:t>
            </a:r>
            <a:r>
              <a:rPr i="1" lang="en">
                <a:latin typeface="Times New Roman"/>
                <a:ea typeface="Times New Roman"/>
                <a:cs typeface="Times New Roman"/>
                <a:sym typeface="Times New Roman"/>
              </a:rPr>
              <a:t>much</a:t>
            </a:r>
            <a:r>
              <a:rPr lang="en">
                <a:latin typeface="Times New Roman"/>
                <a:ea typeface="Times New Roman"/>
                <a:cs typeface="Times New Roman"/>
                <a:sym typeface="Times New Roman"/>
              </a:rPr>
              <a:t> slower when compared to an analogous calculation for European options.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
        <p:nvSpPr>
          <p:cNvPr id="99" name="Google Shape;99;p19"/>
          <p:cNvSpPr/>
          <p:nvPr/>
        </p:nvSpPr>
        <p:spPr>
          <a:xfrm>
            <a:off x="484400" y="2595650"/>
            <a:ext cx="3629400" cy="2007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chemeClr val="dk2"/>
                </a:solidFill>
                <a:latin typeface="Times New Roman"/>
                <a:ea typeface="Times New Roman"/>
                <a:cs typeface="Times New Roman"/>
                <a:sym typeface="Times New Roman"/>
              </a:rPr>
              <a:t>1-year Asian call with: </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lang="en" sz="1800">
                <a:solidFill>
                  <a:schemeClr val="dk2"/>
                </a:solidFill>
                <a:latin typeface="Times New Roman"/>
                <a:ea typeface="Times New Roman"/>
                <a:cs typeface="Times New Roman"/>
                <a:sym typeface="Times New Roman"/>
              </a:rPr>
              <a:t>Strike = $240</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800">
                <a:solidFill>
                  <a:schemeClr val="dk2"/>
                </a:solidFill>
                <a:latin typeface="Times New Roman"/>
                <a:ea typeface="Times New Roman"/>
                <a:cs typeface="Times New Roman"/>
                <a:sym typeface="Times New Roman"/>
              </a:rPr>
              <a:t>Initial Stock Price = $250</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800">
                <a:solidFill>
                  <a:schemeClr val="dk2"/>
                </a:solidFill>
                <a:latin typeface="Times New Roman"/>
                <a:ea typeface="Times New Roman"/>
                <a:cs typeface="Times New Roman"/>
                <a:sym typeface="Times New Roman"/>
              </a:rPr>
              <a:t>Stock Volatility = 0.4</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800">
                <a:solidFill>
                  <a:schemeClr val="dk2"/>
                </a:solidFill>
                <a:latin typeface="Times New Roman"/>
                <a:ea typeface="Times New Roman"/>
                <a:cs typeface="Times New Roman"/>
                <a:sym typeface="Times New Roman"/>
              </a:rPr>
              <a:t>Risk-free Interest Rate = 3.5% </a:t>
            </a:r>
            <a:endParaRPr/>
          </a:p>
        </p:txBody>
      </p:sp>
      <p:sp>
        <p:nvSpPr>
          <p:cNvPr id="100" name="Google Shape;100;p19"/>
          <p:cNvSpPr/>
          <p:nvPr/>
        </p:nvSpPr>
        <p:spPr>
          <a:xfrm>
            <a:off x="5337975" y="2495823"/>
            <a:ext cx="3167700" cy="2263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Monte Carlo estimate of average Asian payout with 10000 simulated stock paths:</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2"/>
                </a:solidFill>
                <a:latin typeface="Times New Roman"/>
                <a:ea typeface="Times New Roman"/>
                <a:cs typeface="Times New Roman"/>
                <a:sym typeface="Times New Roman"/>
              </a:rPr>
              <a:t>$29.47,</a:t>
            </a:r>
            <a:endParaRPr>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with standard error:</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2"/>
                </a:solidFill>
                <a:latin typeface="Times New Roman"/>
                <a:ea typeface="Times New Roman"/>
                <a:cs typeface="Times New Roman"/>
                <a:sym typeface="Times New Roman"/>
              </a:rPr>
              <a:t>0.</a:t>
            </a:r>
            <a:r>
              <a:rPr lang="en">
                <a:solidFill>
                  <a:schemeClr val="dk2"/>
                </a:solidFill>
                <a:latin typeface="Times New Roman"/>
                <a:ea typeface="Times New Roman"/>
                <a:cs typeface="Times New Roman"/>
                <a:sym typeface="Times New Roman"/>
              </a:rPr>
              <a:t>4298</a:t>
            </a:r>
            <a:r>
              <a:rPr lang="en">
                <a:solidFill>
                  <a:schemeClr val="dk2"/>
                </a:solidFill>
                <a:latin typeface="Times New Roman"/>
                <a:ea typeface="Times New Roman"/>
                <a:cs typeface="Times New Roman"/>
                <a:sym typeface="Times New Roman"/>
              </a:rPr>
              <a:t>,</a:t>
            </a:r>
            <a:endParaRPr>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and runtime: </a:t>
            </a:r>
            <a:r>
              <a:rPr lang="en">
                <a:solidFill>
                  <a:schemeClr val="dk2"/>
                </a:solidFill>
                <a:latin typeface="Times New Roman"/>
                <a:ea typeface="Times New Roman"/>
                <a:cs typeface="Times New Roman"/>
                <a:sym typeface="Times New Roman"/>
              </a:rPr>
              <a:t>1.011 </a:t>
            </a:r>
            <a:r>
              <a:rPr lang="en">
                <a:solidFill>
                  <a:schemeClr val="dk2"/>
                </a:solidFill>
                <a:latin typeface="Times New Roman"/>
                <a:ea typeface="Times New Roman"/>
                <a:cs typeface="Times New Roman"/>
                <a:sym typeface="Times New Roman"/>
              </a:rPr>
              <a:t>seconds.</a:t>
            </a:r>
            <a:endParaRPr>
              <a:solidFill>
                <a:schemeClr val="dk2"/>
              </a:solidFill>
              <a:latin typeface="Times New Roman"/>
              <a:ea typeface="Times New Roman"/>
              <a:cs typeface="Times New Roman"/>
              <a:sym typeface="Times New Roman"/>
            </a:endParaRPr>
          </a:p>
        </p:txBody>
      </p:sp>
      <p:sp>
        <p:nvSpPr>
          <p:cNvPr id="101" name="Google Shape;101;p19"/>
          <p:cNvSpPr/>
          <p:nvPr/>
        </p:nvSpPr>
        <p:spPr>
          <a:xfrm>
            <a:off x="4425250" y="3545925"/>
            <a:ext cx="654900" cy="1719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Pricing via the</a:t>
            </a:r>
            <a:r>
              <a:rPr lang="en"/>
              <a:t> </a:t>
            </a:r>
            <a:r>
              <a:rPr lang="en" sz="2750">
                <a:highlight>
                  <a:srgbClr val="FFFFFF"/>
                </a:highlight>
                <a:latin typeface="Times New Roman"/>
                <a:ea typeface="Times New Roman"/>
                <a:cs typeface="Times New Roman"/>
                <a:sym typeface="Times New Roman"/>
              </a:rPr>
              <a:t>Večeř</a:t>
            </a:r>
            <a:r>
              <a:rPr lang="en"/>
              <a:t> </a:t>
            </a:r>
            <a:r>
              <a:rPr lang="en">
                <a:latin typeface="Times New Roman"/>
                <a:ea typeface="Times New Roman"/>
                <a:cs typeface="Times New Roman"/>
                <a:sym typeface="Times New Roman"/>
              </a:rPr>
              <a:t>PDE</a:t>
            </a:r>
            <a:endParaRPr>
              <a:latin typeface="Times New Roman"/>
              <a:ea typeface="Times New Roman"/>
              <a:cs typeface="Times New Roman"/>
              <a:sym typeface="Times New Roman"/>
            </a:endParaRPr>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Times New Roman"/>
                <a:ea typeface="Times New Roman"/>
                <a:cs typeface="Times New Roman"/>
                <a:sym typeface="Times New Roman"/>
              </a:rPr>
              <a:t>The Večeř method rewrites the pricing problem using a transformed variable Z(t), which reduces the original path-dependent problem to a one-dimensional PDE:</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rPr lang="en">
                <a:latin typeface="Times New Roman"/>
                <a:ea typeface="Times New Roman"/>
                <a:cs typeface="Times New Roman"/>
                <a:sym typeface="Times New Roman"/>
              </a:rPr>
              <a:t>We can then recover the payoff at maturity T of a fixed-strike Asian call option as</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1200"/>
              </a:spcAft>
              <a:buNone/>
            </a:pPr>
            <a:r>
              <a:rPr lang="en">
                <a:latin typeface="Times New Roman"/>
                <a:ea typeface="Times New Roman"/>
                <a:cs typeface="Times New Roman"/>
                <a:sym typeface="Times New Roman"/>
              </a:rPr>
              <a:t>This PDE does not have a simple closed-form solution, so it is solved using numerical methods, such as finite-difference schemes.</a:t>
            </a:r>
            <a:endParaRPr>
              <a:latin typeface="Times New Roman"/>
              <a:ea typeface="Times New Roman"/>
              <a:cs typeface="Times New Roman"/>
              <a:sym typeface="Times New Roman"/>
            </a:endParaRPr>
          </a:p>
        </p:txBody>
      </p:sp>
      <p:pic>
        <p:nvPicPr>
          <p:cNvPr id="108" name="Google Shape;108;p20"/>
          <p:cNvPicPr preferRelativeResize="0"/>
          <p:nvPr/>
        </p:nvPicPr>
        <p:blipFill>
          <a:blip r:embed="rId3">
            <a:alphaModFix/>
          </a:blip>
          <a:stretch>
            <a:fillRect/>
          </a:stretch>
        </p:blipFill>
        <p:spPr>
          <a:xfrm>
            <a:off x="3400513" y="3244394"/>
            <a:ext cx="2342975" cy="414225"/>
          </a:xfrm>
          <a:prstGeom prst="rect">
            <a:avLst/>
          </a:prstGeom>
          <a:noFill/>
          <a:ln>
            <a:noFill/>
          </a:ln>
        </p:spPr>
      </p:pic>
      <p:pic>
        <p:nvPicPr>
          <p:cNvPr id="109" name="Google Shape;109;p20"/>
          <p:cNvPicPr preferRelativeResize="0"/>
          <p:nvPr/>
        </p:nvPicPr>
        <p:blipFill>
          <a:blip r:embed="rId4">
            <a:alphaModFix/>
          </a:blip>
          <a:stretch>
            <a:fillRect/>
          </a:stretch>
        </p:blipFill>
        <p:spPr>
          <a:xfrm>
            <a:off x="1656362" y="2040313"/>
            <a:ext cx="5831276" cy="695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Pricing via the</a:t>
            </a:r>
            <a:r>
              <a:rPr lang="en"/>
              <a:t> </a:t>
            </a:r>
            <a:r>
              <a:rPr lang="en" sz="2750">
                <a:highlight>
                  <a:srgbClr val="FFFFFF"/>
                </a:highlight>
                <a:latin typeface="Times New Roman"/>
                <a:ea typeface="Times New Roman"/>
                <a:cs typeface="Times New Roman"/>
                <a:sym typeface="Times New Roman"/>
              </a:rPr>
              <a:t>Večeř</a:t>
            </a:r>
            <a:r>
              <a:rPr lang="en"/>
              <a:t> </a:t>
            </a:r>
            <a:r>
              <a:rPr lang="en">
                <a:latin typeface="Times New Roman"/>
                <a:ea typeface="Times New Roman"/>
                <a:cs typeface="Times New Roman"/>
                <a:sym typeface="Times New Roman"/>
              </a:rPr>
              <a:t>PDE (cont.)</a:t>
            </a:r>
            <a:endParaRPr>
              <a:latin typeface="Times New Roman"/>
              <a:ea typeface="Times New Roman"/>
              <a:cs typeface="Times New Roman"/>
              <a:sym typeface="Times New Roman"/>
            </a:endParaRPr>
          </a:p>
        </p:txBody>
      </p:sp>
      <p:sp>
        <p:nvSpPr>
          <p:cNvPr id="115" name="Google Shape;11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Our results were within the 95% confidence interval obtained from the Monte Carlo simulation, and ran in about a third the time.</a:t>
            </a:r>
            <a:endParaRPr>
              <a:latin typeface="Times New Roman"/>
              <a:ea typeface="Times New Roman"/>
              <a:cs typeface="Times New Roman"/>
              <a:sym typeface="Times New Roman"/>
            </a:endParaRPr>
          </a:p>
        </p:txBody>
      </p:sp>
      <p:sp>
        <p:nvSpPr>
          <p:cNvPr id="116" name="Google Shape;116;p21"/>
          <p:cNvSpPr/>
          <p:nvPr/>
        </p:nvSpPr>
        <p:spPr>
          <a:xfrm>
            <a:off x="484400" y="2092688"/>
            <a:ext cx="3629400" cy="2007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chemeClr val="dk2"/>
                </a:solidFill>
                <a:latin typeface="Times New Roman"/>
                <a:ea typeface="Times New Roman"/>
                <a:cs typeface="Times New Roman"/>
                <a:sym typeface="Times New Roman"/>
              </a:rPr>
              <a:t>1-year Asian call with: </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1000"/>
              </a:spcBef>
              <a:spcAft>
                <a:spcPts val="0"/>
              </a:spcAft>
              <a:buNone/>
            </a:pPr>
            <a:r>
              <a:rPr lang="en" sz="1800">
                <a:solidFill>
                  <a:schemeClr val="dk2"/>
                </a:solidFill>
                <a:latin typeface="Times New Roman"/>
                <a:ea typeface="Times New Roman"/>
                <a:cs typeface="Times New Roman"/>
                <a:sym typeface="Times New Roman"/>
              </a:rPr>
              <a:t>Strike = $240</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800">
                <a:solidFill>
                  <a:schemeClr val="dk2"/>
                </a:solidFill>
                <a:latin typeface="Times New Roman"/>
                <a:ea typeface="Times New Roman"/>
                <a:cs typeface="Times New Roman"/>
                <a:sym typeface="Times New Roman"/>
              </a:rPr>
              <a:t>Initial Stock Price = $250</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800">
                <a:solidFill>
                  <a:schemeClr val="dk2"/>
                </a:solidFill>
                <a:latin typeface="Times New Roman"/>
                <a:ea typeface="Times New Roman"/>
                <a:cs typeface="Times New Roman"/>
                <a:sym typeface="Times New Roman"/>
              </a:rPr>
              <a:t>Stock Volatility = 0.4</a:t>
            </a:r>
            <a:endParaRPr sz="18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800">
                <a:solidFill>
                  <a:schemeClr val="dk2"/>
                </a:solidFill>
                <a:latin typeface="Times New Roman"/>
                <a:ea typeface="Times New Roman"/>
                <a:cs typeface="Times New Roman"/>
                <a:sym typeface="Times New Roman"/>
              </a:rPr>
              <a:t>Risk-free Interest Rate = 3.5% </a:t>
            </a:r>
            <a:endParaRPr>
              <a:latin typeface="Times New Roman"/>
              <a:ea typeface="Times New Roman"/>
              <a:cs typeface="Times New Roman"/>
              <a:sym typeface="Times New Roman"/>
            </a:endParaRPr>
          </a:p>
        </p:txBody>
      </p:sp>
      <p:sp>
        <p:nvSpPr>
          <p:cNvPr id="117" name="Google Shape;117;p21"/>
          <p:cNvSpPr/>
          <p:nvPr/>
        </p:nvSpPr>
        <p:spPr>
          <a:xfrm>
            <a:off x="5337975" y="2381942"/>
            <a:ext cx="3167700" cy="1446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Večeř</a:t>
            </a:r>
            <a:r>
              <a:rPr lang="en">
                <a:solidFill>
                  <a:schemeClr val="dk2"/>
                </a:solidFill>
                <a:latin typeface="Times New Roman"/>
                <a:ea typeface="Times New Roman"/>
                <a:cs typeface="Times New Roman"/>
                <a:sym typeface="Times New Roman"/>
              </a:rPr>
              <a:t> PDE estimate of average Asian payout:</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a:solidFill>
                  <a:schemeClr val="dk2"/>
                </a:solidFill>
                <a:latin typeface="Times New Roman"/>
                <a:ea typeface="Times New Roman"/>
                <a:cs typeface="Times New Roman"/>
                <a:sym typeface="Times New Roman"/>
              </a:rPr>
              <a:t>$29.55,</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and runtime: 0.368 seconds.</a:t>
            </a:r>
            <a:endParaRPr>
              <a:solidFill>
                <a:schemeClr val="dk2"/>
              </a:solidFill>
              <a:latin typeface="Times New Roman"/>
              <a:ea typeface="Times New Roman"/>
              <a:cs typeface="Times New Roman"/>
              <a:sym typeface="Times New Roman"/>
            </a:endParaRPr>
          </a:p>
        </p:txBody>
      </p:sp>
      <p:sp>
        <p:nvSpPr>
          <p:cNvPr id="118" name="Google Shape;118;p21"/>
          <p:cNvSpPr/>
          <p:nvPr/>
        </p:nvSpPr>
        <p:spPr>
          <a:xfrm>
            <a:off x="4425250" y="3061943"/>
            <a:ext cx="654900" cy="1719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Comparing Prices</a:t>
            </a:r>
            <a:endParaRPr>
              <a:latin typeface="Times New Roman"/>
              <a:ea typeface="Times New Roman"/>
              <a:cs typeface="Times New Roman"/>
              <a:sym typeface="Times New Roman"/>
            </a:endParaRPr>
          </a:p>
        </p:txBody>
      </p:sp>
      <p:sp>
        <p:nvSpPr>
          <p:cNvPr id="124" name="Google Shape;12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The Monte Carlo method and the Večeř PDE gave us identical results, which gives us confidence we implemented both correctly</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sz="1200">
              <a:latin typeface="Times New Roman"/>
              <a:ea typeface="Times New Roman"/>
              <a:cs typeface="Times New Roman"/>
              <a:sym typeface="Times New Roman"/>
            </a:endParaRPr>
          </a:p>
          <a:p>
            <a:pPr indent="0" lvl="0" marL="0" rtl="0" algn="l">
              <a:spcBef>
                <a:spcPts val="1200"/>
              </a:spcBef>
              <a:spcAft>
                <a:spcPts val="1200"/>
              </a:spcAft>
              <a:buNone/>
            </a:pPr>
            <a:r>
              <a:rPr lang="en">
                <a:latin typeface="Times New Roman"/>
                <a:ea typeface="Times New Roman"/>
                <a:cs typeface="Times New Roman"/>
                <a:sym typeface="Times New Roman"/>
              </a:rPr>
              <a:t>As one might expect, Asian calls have smaller premiums than European calls.</a:t>
            </a:r>
            <a:endParaRPr>
              <a:latin typeface="Times New Roman"/>
              <a:ea typeface="Times New Roman"/>
              <a:cs typeface="Times New Roman"/>
              <a:sym typeface="Times New Roman"/>
            </a:endParaRPr>
          </a:p>
        </p:txBody>
      </p:sp>
      <p:pic>
        <p:nvPicPr>
          <p:cNvPr id="125" name="Google Shape;125;p22"/>
          <p:cNvPicPr preferRelativeResize="0"/>
          <p:nvPr/>
        </p:nvPicPr>
        <p:blipFill>
          <a:blip r:embed="rId3">
            <a:alphaModFix/>
          </a:blip>
          <a:stretch>
            <a:fillRect/>
          </a:stretch>
        </p:blipFill>
        <p:spPr>
          <a:xfrm>
            <a:off x="3468280" y="2702097"/>
            <a:ext cx="2207450" cy="2188800"/>
          </a:xfrm>
          <a:prstGeom prst="rect">
            <a:avLst/>
          </a:prstGeom>
          <a:noFill/>
          <a:ln>
            <a:noFill/>
          </a:ln>
        </p:spPr>
      </p:pic>
      <p:pic>
        <p:nvPicPr>
          <p:cNvPr id="126" name="Google Shape;126;p22"/>
          <p:cNvPicPr preferRelativeResize="0"/>
          <p:nvPr/>
        </p:nvPicPr>
        <p:blipFill>
          <a:blip r:embed="rId4">
            <a:alphaModFix/>
          </a:blip>
          <a:stretch>
            <a:fillRect/>
          </a:stretch>
        </p:blipFill>
        <p:spPr>
          <a:xfrm>
            <a:off x="732781" y="2784596"/>
            <a:ext cx="2042375" cy="2023792"/>
          </a:xfrm>
          <a:prstGeom prst="rect">
            <a:avLst/>
          </a:prstGeom>
          <a:noFill/>
          <a:ln>
            <a:noFill/>
          </a:ln>
        </p:spPr>
      </p:pic>
      <p:pic>
        <p:nvPicPr>
          <p:cNvPr id="127" name="Google Shape;127;p22"/>
          <p:cNvPicPr preferRelativeResize="0"/>
          <p:nvPr/>
        </p:nvPicPr>
        <p:blipFill>
          <a:blip r:embed="rId5">
            <a:alphaModFix/>
          </a:blip>
          <a:stretch>
            <a:fillRect/>
          </a:stretch>
        </p:blipFill>
        <p:spPr>
          <a:xfrm>
            <a:off x="6275819" y="2702100"/>
            <a:ext cx="2042377" cy="1900475"/>
          </a:xfrm>
          <a:prstGeom prst="rect">
            <a:avLst/>
          </a:prstGeom>
          <a:noFill/>
          <a:ln>
            <a:noFill/>
          </a:ln>
        </p:spPr>
      </p:pic>
      <p:sp>
        <p:nvSpPr>
          <p:cNvPr id="128" name="Google Shape;128;p22"/>
          <p:cNvSpPr txBox="1"/>
          <p:nvPr/>
        </p:nvSpPr>
        <p:spPr>
          <a:xfrm>
            <a:off x="3197400" y="4629150"/>
            <a:ext cx="27492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Times New Roman"/>
                <a:ea typeface="Times New Roman"/>
                <a:cs typeface="Times New Roman"/>
                <a:sym typeface="Times New Roman"/>
              </a:rPr>
              <a:t>(All starting prices are 1 in the above figures)</a:t>
            </a:r>
            <a:endParaRPr sz="1100">
              <a:solidFill>
                <a:schemeClr val="dk2"/>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Calculation of </a:t>
            </a:r>
            <a:r>
              <a:rPr lang="en" sz="2800">
                <a:solidFill>
                  <a:schemeClr val="dk2"/>
                </a:solidFill>
                <a:latin typeface="Times New Roman"/>
                <a:ea typeface="Times New Roman"/>
                <a:cs typeface="Times New Roman"/>
                <a:sym typeface="Times New Roman"/>
              </a:rPr>
              <a:t>Δ</a:t>
            </a:r>
            <a:endParaRPr sz="3800">
              <a:latin typeface="Times New Roman"/>
              <a:ea typeface="Times New Roman"/>
              <a:cs typeface="Times New Roman"/>
              <a:sym typeface="Times New Roman"/>
            </a:endParaRPr>
          </a:p>
        </p:txBody>
      </p:sp>
      <p:sp>
        <p:nvSpPr>
          <p:cNvPr id="134" name="Google Shape;134;p23"/>
          <p:cNvSpPr txBox="1"/>
          <p:nvPr>
            <p:ph idx="1" type="body"/>
          </p:nvPr>
        </p:nvSpPr>
        <p:spPr>
          <a:xfrm>
            <a:off x="311700" y="1181750"/>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The Δ of an option (at time t) is the rate at which the value of the option changes as the underlying stock price </a:t>
            </a:r>
            <a:r>
              <a:rPr lang="en">
                <a:latin typeface="Times New Roman"/>
                <a:ea typeface="Times New Roman"/>
                <a:cs typeface="Times New Roman"/>
                <a:sym typeface="Times New Roman"/>
              </a:rPr>
              <a:t>changes, i.e. the following partial derivative:</a:t>
            </a:r>
            <a:endParaRPr>
              <a:latin typeface="Times New Roman"/>
              <a:ea typeface="Times New Roman"/>
              <a:cs typeface="Times New Roman"/>
              <a:sym typeface="Times New Roman"/>
            </a:endParaRPr>
          </a:p>
          <a:p>
            <a:pPr indent="0" lvl="0" marL="0" rtl="0" algn="ctr">
              <a:spcBef>
                <a:spcPts val="1200"/>
              </a:spcBef>
              <a:spcAft>
                <a:spcPts val="0"/>
              </a:spcAft>
              <a:buNone/>
            </a:pPr>
            <a:r>
              <a:rPr lang="en">
                <a:latin typeface="Times New Roman"/>
                <a:ea typeface="Times New Roman"/>
                <a:cs typeface="Times New Roman"/>
                <a:sym typeface="Times New Roman"/>
              </a:rPr>
              <a:t>Δ = ∂V/∂S_t,</a:t>
            </a:r>
            <a:endParaRPr>
              <a:latin typeface="Times New Roman"/>
              <a:ea typeface="Times New Roman"/>
              <a:cs typeface="Times New Roman"/>
              <a:sym typeface="Times New Roman"/>
            </a:endParaRPr>
          </a:p>
          <a:p>
            <a:pPr indent="0" lvl="0" marL="0" rtl="0" algn="l">
              <a:spcBef>
                <a:spcPts val="1200"/>
              </a:spcBef>
              <a:spcAft>
                <a:spcPts val="0"/>
              </a:spcAft>
              <a:buNone/>
            </a:pPr>
            <a:r>
              <a:rPr lang="en">
                <a:latin typeface="Times New Roman"/>
                <a:ea typeface="Times New Roman"/>
                <a:cs typeface="Times New Roman"/>
                <a:sym typeface="Times New Roman"/>
              </a:rPr>
              <a:t>where V is the value of the of the option and S_t is the underlying stock price at time t. </a:t>
            </a:r>
            <a:endParaRPr>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t/>
            </a:r>
            <a:endParaRPr>
              <a:latin typeface="Times New Roman"/>
              <a:ea typeface="Times New Roman"/>
              <a:cs typeface="Times New Roman"/>
              <a:sym typeface="Times New Roman"/>
            </a:endParaRPr>
          </a:p>
        </p:txBody>
      </p:sp>
      <p:sp>
        <p:nvSpPr>
          <p:cNvPr id="135" name="Google Shape;135;p23"/>
          <p:cNvSpPr/>
          <p:nvPr/>
        </p:nvSpPr>
        <p:spPr>
          <a:xfrm>
            <a:off x="3318525" y="2530900"/>
            <a:ext cx="2334000" cy="5727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800">
                <a:solidFill>
                  <a:schemeClr val="dk2"/>
                </a:solidFill>
                <a:latin typeface="Times New Roman"/>
                <a:ea typeface="Times New Roman"/>
                <a:cs typeface="Times New Roman"/>
                <a:sym typeface="Times New Roman"/>
              </a:rPr>
              <a:t>Δ = ∂V/∂S_t,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Calculation of </a:t>
            </a:r>
            <a:r>
              <a:rPr lang="en" sz="2800">
                <a:solidFill>
                  <a:schemeClr val="dk2"/>
                </a:solidFill>
                <a:latin typeface="Times New Roman"/>
                <a:ea typeface="Times New Roman"/>
                <a:cs typeface="Times New Roman"/>
                <a:sym typeface="Times New Roman"/>
              </a:rPr>
              <a:t>Δ (cont.)</a:t>
            </a:r>
            <a:endParaRPr>
              <a:latin typeface="Times New Roman"/>
              <a:ea typeface="Times New Roman"/>
              <a:cs typeface="Times New Roman"/>
              <a:sym typeface="Times New Roman"/>
            </a:endParaRPr>
          </a:p>
        </p:txBody>
      </p:sp>
      <p:sp>
        <p:nvSpPr>
          <p:cNvPr id="141" name="Google Shape;14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Simplest and direct approach: Estimate the difference quotient</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rPr lang="en">
                <a:latin typeface="Times New Roman"/>
                <a:ea typeface="Times New Roman"/>
                <a:cs typeface="Times New Roman"/>
                <a:sym typeface="Times New Roman"/>
              </a:rPr>
              <a:t>Using Monte Carlo methods to estimate the terms in the numerator gives an estimate, but the estimate is inconsistent and gives nonsensical answers due to the inherent error of estimating the terms in the numerator. </a:t>
            </a:r>
            <a:endParaRPr>
              <a:latin typeface="Times New Roman"/>
              <a:ea typeface="Times New Roman"/>
              <a:cs typeface="Times New Roman"/>
              <a:sym typeface="Times New Roman"/>
            </a:endParaRPr>
          </a:p>
          <a:p>
            <a:pPr indent="0" lvl="0" marL="0" rtl="0" algn="ctr">
              <a:spcBef>
                <a:spcPts val="1200"/>
              </a:spcBef>
              <a:spcAft>
                <a:spcPts val="1200"/>
              </a:spcAft>
              <a:buNone/>
            </a:pPr>
            <a:r>
              <a:t/>
            </a:r>
            <a:endParaRPr>
              <a:latin typeface="Times New Roman"/>
              <a:ea typeface="Times New Roman"/>
              <a:cs typeface="Times New Roman"/>
              <a:sym typeface="Times New Roman"/>
            </a:endParaRPr>
          </a:p>
        </p:txBody>
      </p:sp>
      <p:pic>
        <p:nvPicPr>
          <p:cNvPr id="142" name="Google Shape;142;p24" title="Finite_difference_equation.png"/>
          <p:cNvPicPr preferRelativeResize="0"/>
          <p:nvPr/>
        </p:nvPicPr>
        <p:blipFill rotWithShape="1">
          <a:blip r:embed="rId3">
            <a:alphaModFix/>
          </a:blip>
          <a:srcRect b="0" l="0" r="0" t="7124"/>
          <a:stretch/>
        </p:blipFill>
        <p:spPr>
          <a:xfrm>
            <a:off x="3226500" y="1729675"/>
            <a:ext cx="2691000" cy="890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Times New Roman"/>
                <a:ea typeface="Times New Roman"/>
                <a:cs typeface="Times New Roman"/>
                <a:sym typeface="Times New Roman"/>
              </a:rPr>
              <a:t>Calculation of </a:t>
            </a:r>
            <a:r>
              <a:rPr lang="en" sz="2800">
                <a:solidFill>
                  <a:schemeClr val="dk2"/>
                </a:solidFill>
                <a:latin typeface="Times New Roman"/>
                <a:ea typeface="Times New Roman"/>
                <a:cs typeface="Times New Roman"/>
                <a:sym typeface="Times New Roman"/>
              </a:rPr>
              <a:t>Δ (cont.)</a:t>
            </a:r>
            <a:endParaRPr>
              <a:latin typeface="Times New Roman"/>
              <a:ea typeface="Times New Roman"/>
              <a:cs typeface="Times New Roman"/>
              <a:sym typeface="Times New Roman"/>
            </a:endParaRPr>
          </a:p>
        </p:txBody>
      </p:sp>
      <p:sp>
        <p:nvSpPr>
          <p:cNvPr id="148" name="Google Shape;14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Better approach: Pathwise estimation.</a:t>
            </a:r>
            <a:endParaRPr>
              <a:latin typeface="Times New Roman"/>
              <a:ea typeface="Times New Roman"/>
              <a:cs typeface="Times New Roman"/>
              <a:sym typeface="Times New Roman"/>
            </a:endParaRPr>
          </a:p>
          <a:p>
            <a:pPr indent="0" lvl="0" marL="0" rtl="0" algn="l">
              <a:spcBef>
                <a:spcPts val="1200"/>
              </a:spcBef>
              <a:spcAft>
                <a:spcPts val="0"/>
              </a:spcAft>
              <a:buNone/>
            </a:pPr>
            <a:r>
              <a:rPr lang="en">
                <a:latin typeface="Times New Roman"/>
                <a:ea typeface="Times New Roman"/>
                <a:cs typeface="Times New Roman"/>
                <a:sym typeface="Times New Roman"/>
              </a:rPr>
              <a:t>Let A be the average stock price at expiration. The precise definition of </a:t>
            </a:r>
            <a:r>
              <a:rPr lang="en">
                <a:latin typeface="Times New Roman"/>
                <a:ea typeface="Times New Roman"/>
                <a:cs typeface="Times New Roman"/>
                <a:sym typeface="Times New Roman"/>
              </a:rPr>
              <a:t>Δ is the following expression:</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rPr lang="en">
                <a:latin typeface="Times New Roman"/>
                <a:ea typeface="Times New Roman"/>
                <a:cs typeface="Times New Roman"/>
                <a:sym typeface="Times New Roman"/>
              </a:rPr>
              <a:t>It can be shown that the derivative and the expectation may be interchanged. So to estimate Δ, one may estimate the expected value of </a:t>
            </a:r>
            <a:endParaRPr>
              <a:latin typeface="Times New Roman"/>
              <a:ea typeface="Times New Roman"/>
              <a:cs typeface="Times New Roman"/>
              <a:sym typeface="Times New Roman"/>
            </a:endParaRPr>
          </a:p>
          <a:p>
            <a:pPr indent="0" lvl="0" marL="0" rtl="0" algn="ctr">
              <a:spcBef>
                <a:spcPts val="1200"/>
              </a:spcBef>
              <a:spcAft>
                <a:spcPts val="1200"/>
              </a:spcAft>
              <a:buNone/>
            </a:pPr>
            <a:r>
              <a:t/>
            </a:r>
            <a:endParaRPr>
              <a:latin typeface="Times New Roman"/>
              <a:ea typeface="Times New Roman"/>
              <a:cs typeface="Times New Roman"/>
              <a:sym typeface="Times New Roman"/>
            </a:endParaRPr>
          </a:p>
        </p:txBody>
      </p:sp>
      <p:pic>
        <p:nvPicPr>
          <p:cNvPr id="149" name="Google Shape;149;p25" title="Delta.png"/>
          <p:cNvPicPr preferRelativeResize="0"/>
          <p:nvPr/>
        </p:nvPicPr>
        <p:blipFill>
          <a:blip r:embed="rId3">
            <a:alphaModFix/>
          </a:blip>
          <a:stretch>
            <a:fillRect/>
          </a:stretch>
        </p:blipFill>
        <p:spPr>
          <a:xfrm>
            <a:off x="2519088" y="2006625"/>
            <a:ext cx="4213175" cy="1022850"/>
          </a:xfrm>
          <a:prstGeom prst="rect">
            <a:avLst/>
          </a:prstGeom>
          <a:noFill/>
          <a:ln>
            <a:noFill/>
          </a:ln>
        </p:spPr>
      </p:pic>
      <p:pic>
        <p:nvPicPr>
          <p:cNvPr id="150" name="Google Shape;150;p25" title="Screenshot 2026-07-10 145550.png"/>
          <p:cNvPicPr preferRelativeResize="0"/>
          <p:nvPr/>
        </p:nvPicPr>
        <p:blipFill>
          <a:blip r:embed="rId4">
            <a:alphaModFix/>
          </a:blip>
          <a:stretch>
            <a:fillRect/>
          </a:stretch>
        </p:blipFill>
        <p:spPr>
          <a:xfrm>
            <a:off x="2742943" y="3594782"/>
            <a:ext cx="3765500" cy="974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Times New Roman"/>
                <a:ea typeface="Times New Roman"/>
                <a:cs typeface="Times New Roman"/>
                <a:sym typeface="Times New Roman"/>
              </a:rPr>
              <a:t>Calculation of </a:t>
            </a:r>
            <a:r>
              <a:rPr lang="en" sz="2800">
                <a:solidFill>
                  <a:schemeClr val="dk2"/>
                </a:solidFill>
                <a:latin typeface="Times New Roman"/>
                <a:ea typeface="Times New Roman"/>
                <a:cs typeface="Times New Roman"/>
                <a:sym typeface="Times New Roman"/>
              </a:rPr>
              <a:t>Δ (cont.)</a:t>
            </a:r>
            <a:endParaRPr>
              <a:latin typeface="Times New Roman"/>
              <a:ea typeface="Times New Roman"/>
              <a:cs typeface="Times New Roman"/>
              <a:sym typeface="Times New Roman"/>
            </a:endParaRPr>
          </a:p>
        </p:txBody>
      </p:sp>
      <p:sp>
        <p:nvSpPr>
          <p:cNvPr id="156" name="Google Shape;15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Under the assumption that the stock follows Geometric Brownian Motion, we can explicitly calculate the derivative in terms of the underlying stock prices: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rPr lang="en">
                <a:latin typeface="Times New Roman"/>
                <a:ea typeface="Times New Roman"/>
                <a:cs typeface="Times New Roman"/>
                <a:sym typeface="Times New Roman"/>
              </a:rPr>
              <a:t>The estimation of </a:t>
            </a:r>
            <a:r>
              <a:rPr lang="en">
                <a:latin typeface="Times New Roman"/>
                <a:ea typeface="Times New Roman"/>
                <a:cs typeface="Times New Roman"/>
                <a:sym typeface="Times New Roman"/>
              </a:rPr>
              <a:t>Δ by this method is much cleaner and gives decent results under Monte Carlo methods. An example calculation:</a:t>
            </a:r>
            <a:endParaRPr>
              <a:latin typeface="Times New Roman"/>
              <a:ea typeface="Times New Roman"/>
              <a:cs typeface="Times New Roman"/>
              <a:sym typeface="Times New Roman"/>
            </a:endParaRPr>
          </a:p>
          <a:p>
            <a:pPr indent="0" lvl="0" marL="0" rtl="0" algn="l">
              <a:spcBef>
                <a:spcPts val="1200"/>
              </a:spcBef>
              <a:spcAft>
                <a:spcPts val="1200"/>
              </a:spcAft>
              <a:buNone/>
            </a:pP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157" name="Google Shape;157;p26" title="Screenshot 2026-07-10 150149.png"/>
          <p:cNvPicPr preferRelativeResize="0"/>
          <p:nvPr/>
        </p:nvPicPr>
        <p:blipFill>
          <a:blip r:embed="rId3">
            <a:alphaModFix/>
          </a:blip>
          <a:stretch>
            <a:fillRect/>
          </a:stretch>
        </p:blipFill>
        <p:spPr>
          <a:xfrm>
            <a:off x="1618200" y="1870775"/>
            <a:ext cx="5907600" cy="880350"/>
          </a:xfrm>
          <a:prstGeom prst="rect">
            <a:avLst/>
          </a:prstGeom>
          <a:noFill/>
          <a:ln>
            <a:noFill/>
          </a:ln>
        </p:spPr>
      </p:pic>
      <p:sp>
        <p:nvSpPr>
          <p:cNvPr id="158" name="Google Shape;158;p26"/>
          <p:cNvSpPr/>
          <p:nvPr/>
        </p:nvSpPr>
        <p:spPr>
          <a:xfrm>
            <a:off x="508600" y="3613350"/>
            <a:ext cx="2889000" cy="14346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S</a:t>
            </a:r>
            <a:r>
              <a:rPr lang="en">
                <a:solidFill>
                  <a:schemeClr val="dk2"/>
                </a:solidFill>
                <a:latin typeface="Times New Roman"/>
                <a:ea typeface="Times New Roman"/>
                <a:cs typeface="Times New Roman"/>
                <a:sym typeface="Times New Roman"/>
              </a:rPr>
              <a:t>igma = 0.4</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r = 0.04</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Initial Stock Price = $1</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K = $1</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2"/>
                </a:solidFill>
                <a:latin typeface="Times New Roman"/>
                <a:ea typeface="Times New Roman"/>
                <a:cs typeface="Times New Roman"/>
                <a:sym typeface="Times New Roman"/>
              </a:rPr>
              <a:t>Time to Expiration = 1</a:t>
            </a:r>
            <a:endParaRPr>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9" name="Google Shape;159;p26"/>
          <p:cNvSpPr/>
          <p:nvPr/>
        </p:nvSpPr>
        <p:spPr>
          <a:xfrm>
            <a:off x="5017700" y="3604175"/>
            <a:ext cx="3259800" cy="1454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Times New Roman"/>
                <a:ea typeface="Times New Roman"/>
                <a:cs typeface="Times New Roman"/>
                <a:sym typeface="Times New Roman"/>
              </a:rPr>
              <a:t>Estimate of </a:t>
            </a:r>
            <a:r>
              <a:rPr lang="en" sz="1800">
                <a:solidFill>
                  <a:schemeClr val="dk2"/>
                </a:solidFill>
                <a:latin typeface="Times New Roman"/>
                <a:ea typeface="Times New Roman"/>
                <a:cs typeface="Times New Roman"/>
                <a:sym typeface="Times New Roman"/>
              </a:rPr>
              <a:t>Δ:</a:t>
            </a:r>
            <a:endParaRPr sz="1800">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sz="1800">
                <a:solidFill>
                  <a:schemeClr val="dk2"/>
                </a:solidFill>
                <a:latin typeface="Times New Roman"/>
                <a:ea typeface="Times New Roman"/>
                <a:cs typeface="Times New Roman"/>
                <a:sym typeface="Times New Roman"/>
              </a:rPr>
              <a:t>0.53</a:t>
            </a:r>
            <a:endParaRPr sz="1800">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sz="1800">
                <a:solidFill>
                  <a:schemeClr val="dk2"/>
                </a:solidFill>
                <a:latin typeface="Times New Roman"/>
                <a:ea typeface="Times New Roman"/>
                <a:cs typeface="Times New Roman"/>
                <a:sym typeface="Times New Roman"/>
              </a:rPr>
              <a:t>With standard error:</a:t>
            </a:r>
            <a:endParaRPr sz="1800">
              <a:solidFill>
                <a:schemeClr val="dk2"/>
              </a:solidFill>
              <a:latin typeface="Times New Roman"/>
              <a:ea typeface="Times New Roman"/>
              <a:cs typeface="Times New Roman"/>
              <a:sym typeface="Times New Roman"/>
            </a:endParaRPr>
          </a:p>
          <a:p>
            <a:pPr indent="0" lvl="0" marL="0" rtl="0" algn="ctr">
              <a:spcBef>
                <a:spcPts val="0"/>
              </a:spcBef>
              <a:spcAft>
                <a:spcPts val="0"/>
              </a:spcAft>
              <a:buNone/>
            </a:pPr>
            <a:r>
              <a:rPr lang="en" sz="1800">
                <a:solidFill>
                  <a:schemeClr val="dk2"/>
                </a:solidFill>
                <a:latin typeface="Times New Roman"/>
                <a:ea typeface="Times New Roman"/>
                <a:cs typeface="Times New Roman"/>
                <a:sym typeface="Times New Roman"/>
              </a:rPr>
              <a:t>0.005</a:t>
            </a:r>
            <a:endParaRPr sz="1800">
              <a:solidFill>
                <a:schemeClr val="dk2"/>
              </a:solidFill>
              <a:latin typeface="Times New Roman"/>
              <a:ea typeface="Times New Roman"/>
              <a:cs typeface="Times New Roman"/>
              <a:sym typeface="Times New Roman"/>
            </a:endParaRPr>
          </a:p>
        </p:txBody>
      </p:sp>
      <p:sp>
        <p:nvSpPr>
          <p:cNvPr id="160" name="Google Shape;160;p26"/>
          <p:cNvSpPr/>
          <p:nvPr/>
        </p:nvSpPr>
        <p:spPr>
          <a:xfrm>
            <a:off x="3690350" y="4101350"/>
            <a:ext cx="985800" cy="3903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Comparing Delta</a:t>
            </a:r>
            <a:endParaRPr>
              <a:latin typeface="Times New Roman"/>
              <a:ea typeface="Times New Roman"/>
              <a:cs typeface="Times New Roman"/>
              <a:sym typeface="Times New Roman"/>
            </a:endParaRPr>
          </a:p>
        </p:txBody>
      </p:sp>
      <p:sp>
        <p:nvSpPr>
          <p:cNvPr id="166" name="Google Shape;16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For sigma = 0.4, r = 0.03, T = 1, and S_0 = 1, we got the following values for delta for call options</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graphicFrame>
        <p:nvGraphicFramePr>
          <p:cNvPr id="167" name="Google Shape;167;p27"/>
          <p:cNvGraphicFramePr/>
          <p:nvPr/>
        </p:nvGraphicFramePr>
        <p:xfrm>
          <a:off x="952500" y="2002350"/>
          <a:ext cx="3000000" cy="3000000"/>
        </p:xfrm>
        <a:graphic>
          <a:graphicData uri="http://schemas.openxmlformats.org/drawingml/2006/table">
            <a:tbl>
              <a:tblPr>
                <a:noFill/>
                <a:tableStyleId>{0FC93755-9601-451A-A3E9-87CA1E41A8B0}</a:tableStyleId>
              </a:tblPr>
              <a:tblGrid>
                <a:gridCol w="2413000"/>
                <a:gridCol w="2413000"/>
                <a:gridCol w="2413000"/>
              </a:tblGrid>
              <a:tr h="381000">
                <a:tc>
                  <a:txBody>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European </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Asian (95% CI)</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K= 0.8</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0.805</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(0.820, 0.840)</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K = 0.9</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0.713</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(0.691, 0.711)</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K = 1.0</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0.618</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(0.525, 0.548)</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K = 1.1</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0.525</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(0.386, 0.409)</a:t>
                      </a:r>
                      <a:endParaRPr>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
                          <a:latin typeface="Times New Roman"/>
                          <a:ea typeface="Times New Roman"/>
                          <a:cs typeface="Times New Roman"/>
                          <a:sym typeface="Times New Roman"/>
                        </a:rPr>
                        <a:t>K = 1.2</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0.438</a:t>
                      </a:r>
                      <a:endParaRPr>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a:latin typeface="Times New Roman"/>
                          <a:ea typeface="Times New Roman"/>
                          <a:cs typeface="Times New Roman"/>
                          <a:sym typeface="Times New Roman"/>
                        </a:rPr>
                        <a:t>(0.255, 0.276)</a:t>
                      </a:r>
                      <a:endParaRPr>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Delta Hedging</a:t>
            </a:r>
            <a:endParaRPr>
              <a:latin typeface="Times New Roman"/>
              <a:ea typeface="Times New Roman"/>
              <a:cs typeface="Times New Roman"/>
              <a:sym typeface="Times New Roman"/>
            </a:endParaRPr>
          </a:p>
        </p:txBody>
      </p:sp>
      <p:sp>
        <p:nvSpPr>
          <p:cNvPr id="173" name="Google Shape;17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Using the estimated </a:t>
            </a:r>
            <a:r>
              <a:rPr lang="en">
                <a:latin typeface="Times New Roman"/>
                <a:ea typeface="Times New Roman"/>
                <a:cs typeface="Times New Roman"/>
                <a:sym typeface="Times New Roman"/>
              </a:rPr>
              <a:t>Δ’s, we simulated the profits of selling a portfolio consisting of 100 Asian calls, sold $60 above the expected payout. The results are similar to the vanilla case.</a:t>
            </a:r>
            <a:endParaRPr>
              <a:latin typeface="Times New Roman"/>
              <a:ea typeface="Times New Roman"/>
              <a:cs typeface="Times New Roman"/>
              <a:sym typeface="Times New Roman"/>
            </a:endParaRPr>
          </a:p>
        </p:txBody>
      </p:sp>
      <p:pic>
        <p:nvPicPr>
          <p:cNvPr id="174" name="Google Shape;174;p28" title="zero_hedges.png"/>
          <p:cNvPicPr preferRelativeResize="0"/>
          <p:nvPr/>
        </p:nvPicPr>
        <p:blipFill>
          <a:blip r:embed="rId3">
            <a:alphaModFix/>
          </a:blip>
          <a:stretch>
            <a:fillRect/>
          </a:stretch>
        </p:blipFill>
        <p:spPr>
          <a:xfrm>
            <a:off x="440275" y="1863525"/>
            <a:ext cx="3873925" cy="3018625"/>
          </a:xfrm>
          <a:prstGeom prst="rect">
            <a:avLst/>
          </a:prstGeom>
          <a:noFill/>
          <a:ln>
            <a:noFill/>
          </a:ln>
        </p:spPr>
      </p:pic>
      <p:pic>
        <p:nvPicPr>
          <p:cNvPr id="175" name="Google Shape;175;p28" title="Five_hedges.png"/>
          <p:cNvPicPr preferRelativeResize="0"/>
          <p:nvPr/>
        </p:nvPicPr>
        <p:blipFill>
          <a:blip r:embed="rId4">
            <a:alphaModFix/>
          </a:blip>
          <a:stretch>
            <a:fillRect/>
          </a:stretch>
        </p:blipFill>
        <p:spPr>
          <a:xfrm>
            <a:off x="4572001" y="1863524"/>
            <a:ext cx="4094293" cy="3181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Delta Hedging (cont.)</a:t>
            </a:r>
            <a:endParaRPr>
              <a:latin typeface="Times New Roman"/>
              <a:ea typeface="Times New Roman"/>
              <a:cs typeface="Times New Roman"/>
              <a:sym typeface="Times New Roman"/>
            </a:endParaRPr>
          </a:p>
        </p:txBody>
      </p:sp>
      <p:pic>
        <p:nvPicPr>
          <p:cNvPr id="181" name="Google Shape;181;p29" title="ten_hedges.png"/>
          <p:cNvPicPr preferRelativeResize="0"/>
          <p:nvPr/>
        </p:nvPicPr>
        <p:blipFill>
          <a:blip r:embed="rId3">
            <a:alphaModFix/>
          </a:blip>
          <a:stretch>
            <a:fillRect/>
          </a:stretch>
        </p:blipFill>
        <p:spPr>
          <a:xfrm>
            <a:off x="311701" y="1152475"/>
            <a:ext cx="4063600" cy="3168675"/>
          </a:xfrm>
          <a:prstGeom prst="rect">
            <a:avLst/>
          </a:prstGeom>
          <a:noFill/>
          <a:ln>
            <a:noFill/>
          </a:ln>
        </p:spPr>
      </p:pic>
      <p:pic>
        <p:nvPicPr>
          <p:cNvPr id="182" name="Google Shape;182;p29" title="thirty.png"/>
          <p:cNvPicPr preferRelativeResize="0"/>
          <p:nvPr/>
        </p:nvPicPr>
        <p:blipFill>
          <a:blip r:embed="rId4">
            <a:alphaModFix/>
          </a:blip>
          <a:stretch>
            <a:fillRect/>
          </a:stretch>
        </p:blipFill>
        <p:spPr>
          <a:xfrm>
            <a:off x="4643972" y="1220650"/>
            <a:ext cx="4148725" cy="32800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Delta Hedging (cont.)</a:t>
            </a:r>
            <a:endParaRPr>
              <a:latin typeface="Times New Roman"/>
              <a:ea typeface="Times New Roman"/>
              <a:cs typeface="Times New Roman"/>
              <a:sym typeface="Times New Roman"/>
            </a:endParaRPr>
          </a:p>
        </p:txBody>
      </p:sp>
      <p:pic>
        <p:nvPicPr>
          <p:cNvPr id="188" name="Google Shape;188;p30" title="45.png"/>
          <p:cNvPicPr preferRelativeResize="0"/>
          <p:nvPr/>
        </p:nvPicPr>
        <p:blipFill>
          <a:blip r:embed="rId3">
            <a:alphaModFix/>
          </a:blip>
          <a:stretch>
            <a:fillRect/>
          </a:stretch>
        </p:blipFill>
        <p:spPr>
          <a:xfrm>
            <a:off x="223351" y="1368426"/>
            <a:ext cx="3987050" cy="3149050"/>
          </a:xfrm>
          <a:prstGeom prst="rect">
            <a:avLst/>
          </a:prstGeom>
          <a:noFill/>
          <a:ln>
            <a:noFill/>
          </a:ln>
        </p:spPr>
      </p:pic>
      <p:pic>
        <p:nvPicPr>
          <p:cNvPr id="189" name="Google Shape;189;p30" title="90.png"/>
          <p:cNvPicPr preferRelativeResize="0"/>
          <p:nvPr/>
        </p:nvPicPr>
        <p:blipFill>
          <a:blip r:embed="rId4">
            <a:alphaModFix/>
          </a:blip>
          <a:stretch>
            <a:fillRect/>
          </a:stretch>
        </p:blipFill>
        <p:spPr>
          <a:xfrm>
            <a:off x="4699600" y="1491550"/>
            <a:ext cx="3879889" cy="3025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195" name="Google Shape;19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i="1" lang="en">
                <a:solidFill>
                  <a:schemeClr val="dk1"/>
                </a:solidFill>
                <a:highlight>
                  <a:srgbClr val="FFFFFF"/>
                </a:highlight>
                <a:latin typeface="Times New Roman"/>
                <a:ea typeface="Times New Roman"/>
                <a:cs typeface="Times New Roman"/>
                <a:sym typeface="Times New Roman"/>
              </a:rPr>
              <a:t>Stochastic Calculus for Finance II</a:t>
            </a:r>
            <a:r>
              <a:rPr lang="en">
                <a:solidFill>
                  <a:schemeClr val="dk1"/>
                </a:solidFill>
                <a:highlight>
                  <a:srgbClr val="FFFFFF"/>
                </a:highlight>
                <a:latin typeface="Times New Roman"/>
                <a:ea typeface="Times New Roman"/>
                <a:cs typeface="Times New Roman"/>
                <a:sym typeface="Times New Roman"/>
              </a:rPr>
              <a:t>, Steven E. Shreve. (2004)</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highlight>
                  <a:srgbClr val="FFFFFF"/>
                </a:highlight>
                <a:latin typeface="Times New Roman"/>
                <a:ea typeface="Times New Roman"/>
                <a:cs typeface="Times New Roman"/>
                <a:sym typeface="Times New Roman"/>
              </a:rPr>
              <a:t>"Estimating the Greeks", Lecture notes by Martin Haugh. Link: </a:t>
            </a:r>
            <a:r>
              <a:rPr lang="en">
                <a:solidFill>
                  <a:srgbClr val="0D47A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https://www.columbia.edu/~mh2078/MonteCarlo/MCS_Greeks.pdf</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